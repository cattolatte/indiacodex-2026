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DA190-A111-89E0-A79B-66961CB8C7A6}" v="91" dt="2026-07-21T12:53:26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14725" y="1895475"/>
            <a:ext cx="51625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TEAM ADASTRA · MASUMI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5661" y="2400300"/>
            <a:ext cx="5420677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0F172A"/>
                </a:solidFill>
                <a:latin typeface="Inter ExtraBold"/>
              </a:rPr>
              <a:t>ANTIDOTE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4725" y="3514725"/>
            <a:ext cx="51625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475569"/>
                </a:solidFill>
                <a:latin typeface="Inter"/>
              </a:rPr>
              <a:t>Antivirus protects computers.</a:t>
            </a:r>
            <a:r>
              <a:t>
</a:t>
            </a:r>
            <a:r>
              <a:rPr sz="2100" b="0" i="0" u="none">
                <a:solidFill>
                  <a:srgbClr val="475569"/>
                </a:solidFill>
                <a:latin typeface="Inter"/>
              </a:rPr>
              <a:t> Nobody protects what machines believe.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725" y="4505325"/>
            <a:ext cx="51625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10B981"/>
                </a:solidFill>
                <a:latin typeface="Inter SemiBold"/>
              </a:rPr>
              <a:t>Epistemic recalls for agent fleets.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95487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Agents don't just answer — they </a:t>
            </a:r>
            <a:r>
              <a:rPr sz="1650" b="1" i="0" u="none">
                <a:solidFill>
                  <a:srgbClr val="334155"/>
                </a:solidFill>
                <a:latin typeface="Inter"/>
              </a:rPr>
              <a:t>ingest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and </a:t>
            </a:r>
            <a:r>
              <a:rPr sz="1650" b="1" i="0" u="none">
                <a:solidFill>
                  <a:srgbClr val="334155"/>
                </a:solidFill>
                <a:latin typeface="Inter"/>
              </a:rPr>
              <a:t>act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471987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A trader sizes a multi-million-dollar position</a:t>
            </a:r>
            <a:r>
              <a:rPr lang="en-US" sz="1650">
                <a:solidFill>
                  <a:srgbClr val="334155"/>
                </a:solidFill>
                <a:latin typeface="Inter"/>
              </a:rPr>
              <a:t> and</a:t>
            </a:r>
            <a:r>
              <a:rPr lang="en-US" sz="1650" dirty="0">
                <a:solidFill>
                  <a:srgbClr val="334155"/>
                </a:solidFill>
                <a:latin typeface="Inter"/>
              </a:rPr>
              <a:t> </a:t>
            </a:r>
            <a:r>
              <a:rPr sz="1650" b="0" i="0" u="none" dirty="0">
                <a:solidFill>
                  <a:srgbClr val="334155"/>
                </a:solidFill>
                <a:latin typeface="Inter"/>
              </a:rPr>
              <a:t>all on a lie, all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452687"/>
            <a:ext cx="4991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One forged source becomes a belief.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957512"/>
            <a:ext cx="4991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That belief drives autonomous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462337"/>
            <a:ext cx="4991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Downstream agents ingest those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967162"/>
            <a:ext cx="4991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Inter"/>
              </a:rPr>
              <a:t>A fake PDF metastasizes in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452687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957512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462337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3967162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Epidemic Contamination</a:t>
            </a:r>
          </a:p>
        </p:txBody>
      </p:sp>
      <p:pic>
        <p:nvPicPr>
          <p:cNvPr id="16" name="Picture 15" descr="Blue nodes and yellow lines form an interconnected network on a white background. the pattern illustrates a web-like structure with geometric symmetry, representing concepts of connectivity and complexity in a modern, artistic design. Abstract blue network interconnected nodes lines white background ai generated stock images, royalty-free photos and pictures">
            <a:extLst>
              <a:ext uri="{FF2B5EF4-FFF2-40B4-BE49-F238E27FC236}">
                <a16:creationId xmlns:a16="http://schemas.microsoft.com/office/drawing/2014/main" id="{E826D5B7-8B81-ACEF-3A42-A6F10764B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0237"/>
            <a:ext cx="5522686" cy="31300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2237"/>
            <a:ext cx="5276850" cy="3171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662237"/>
            <a:ext cx="5276850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966912"/>
            <a:ext cx="11029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Food, cars, drugs have recalls. Information has </a:t>
            </a:r>
            <a:r>
              <a:rPr sz="1650" b="1" i="0" u="none">
                <a:solidFill>
                  <a:srgbClr val="334155"/>
                </a:solidFill>
                <a:latin typeface="Inter"/>
              </a:rPr>
              <a:t>nothing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052762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Inter SemiBold"/>
              </a:rPr>
              <a:t>Provenance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1550" y="3519487"/>
            <a:ext cx="4495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1550" y="3729037"/>
            <a:ext cx="44958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THE STANDARD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186237"/>
            <a:ext cx="44958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"Where did it come from?"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4643437"/>
            <a:ext cx="4495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Provenance is prevention at the door. It fails once the bad batch ships.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081337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Inter SemiBold"/>
              </a:rPr>
              <a:t>ANTIDOTE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4650" y="3548062"/>
            <a:ext cx="4495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4650" y="3757612"/>
            <a:ext cx="44958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THE MISSING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4214812"/>
            <a:ext cx="44958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"Claw it back from every mind."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672012"/>
            <a:ext cx="4495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We answer the unsolved inverse. Pull poison from every agent that ingested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The Missing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57325"/>
            <a:ext cx="11029950" cy="48863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541895"/>
              </p:ext>
            </p:extLst>
          </p:nvPr>
        </p:nvGraphicFramePr>
        <p:xfrm>
          <a:off x="590550" y="1466850"/>
          <a:ext cx="11010897" cy="486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9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0F172A"/>
                          </a:solidFill>
                          <a:latin typeface="Inter ExtraBold"/>
                        </a:rPr>
                        <a:t>  </a:t>
                      </a:r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Public Health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ANTIDOTE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 </a:t>
                      </a:r>
                      <a:r>
                        <a:rPr sz="16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Diagnostics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"/>
                        </a:rPr>
                        <a:t>Detector scores incoming sources for forgery signals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 </a:t>
                      </a:r>
                      <a:r>
                        <a:rPr sz="16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Outbreak declaration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Staked recall, </a:t>
                      </a:r>
                      <a:r>
                        <a:rPr sz="16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slashable</a:t>
                      </a:r>
                      <a:r>
                        <a:rPr sz="16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if 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 </a:t>
                      </a:r>
                      <a:r>
                        <a:rPr sz="16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Contact tracing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"/>
                        </a:rPr>
                        <a:t>Contagion graph over gateway-written manifests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 </a:t>
                      </a:r>
                      <a:r>
                        <a:rPr sz="16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Quarantine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"/>
                        </a:rPr>
                        <a:t>On-chain gate + Masumi refuses the hire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 </a:t>
                      </a:r>
                      <a:r>
                        <a:rPr sz="16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Treatment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"/>
                        </a:rPr>
                        <a:t>Paid decontamination agent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 </a:t>
                      </a:r>
                      <a:r>
                        <a:rPr sz="1650" b="0" i="0" u="none" dirty="0" err="1">
                          <a:solidFill>
                            <a:srgbClr val="0F172A"/>
                          </a:solidFill>
                          <a:latin typeface="Inter SemiBold"/>
                        </a:rPr>
                        <a:t>Immunisation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0B981"/>
                          </a:solidFill>
                          <a:latin typeface="Inter"/>
                        </a:rPr>
                        <a:t>Antibodies refuse the same lie, even reworded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100262"/>
            <a:ext cx="3853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44305" y="2100262"/>
            <a:ext cx="7157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0550" y="2805112"/>
            <a:ext cx="3853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44305" y="2805112"/>
            <a:ext cx="7157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550" y="3509962"/>
            <a:ext cx="3853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44305" y="3509962"/>
            <a:ext cx="7157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4214812"/>
            <a:ext cx="3853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44305" y="4214812"/>
            <a:ext cx="7157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4919662"/>
            <a:ext cx="3853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4305" y="4919662"/>
            <a:ext cx="7157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0550" y="5624512"/>
            <a:ext cx="3853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44305" y="5624512"/>
            <a:ext cx="7157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514350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Public Health for Machines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7000"/>
            <a:ext cx="3422600" cy="3162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2667000"/>
            <a:ext cx="3422600" cy="3162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225" y="2667000"/>
            <a:ext cx="3422600" cy="3162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971675"/>
            <a:ext cx="11029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Every recall creates </a:t>
            </a:r>
            <a:r>
              <a:rPr sz="1650" b="1" i="0" u="none">
                <a:solidFill>
                  <a:srgbClr val="334155"/>
                </a:solidFill>
                <a:latin typeface="Inter"/>
              </a:rPr>
              <a:t>paid work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. Monetization is the immune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67125"/>
            <a:ext cx="171021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Inter SemiBold"/>
              </a:rPr>
              <a:t>Paid Cleanup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33850"/>
            <a:ext cx="28320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Decontamination costs 25 ADA. Auditing costs 15 ADA. Agents heal agents, for money.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9900" y="3667125"/>
            <a:ext cx="145018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Inter SemiBold"/>
              </a:rPr>
              <a:t>Quarantine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9900" y="4133850"/>
            <a:ext cx="28320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Enforced strictly on the Masumi rails. A flagged agent cannot earn or transact.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3500" y="3667125"/>
            <a:ext cx="177022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Inter SemiBold"/>
              </a:rPr>
              <a:t>Doubt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3500" y="4133850"/>
            <a:ext cx="28320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Being early to a lie is a revenue stream. Stake pays out over Masumi.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000375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900" y="3000375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500" y="3000375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An Immune System For Money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281112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05000" y="1471612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Ingest: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Through a gateway → content-addressed shards + Merkle manifest.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185987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05000" y="2376487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Detect: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Forgery signals trigger an advisory flag.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090862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5000" y="3281362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Recall: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Staked alarm; slashable if proven false.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3995737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05000" y="4186237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Trace: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Resolve exposure direct &amp; transitive via manifests.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3500" y="4900612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05000" y="5091112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Quarantine: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On-chain gate + Masumi both refuse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3500" y="5805487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05000" y="5995987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Heal: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Paid purge → staked audit → cleared → immunised.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3500" y="1985962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33500" y="2890837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333500" y="3795712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33500" y="4700587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33500" y="5605462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333500" y="6510337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1490662"/>
            <a:ext cx="11430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2395537"/>
            <a:ext cx="15240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3300412"/>
            <a:ext cx="142875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" y="4205287"/>
            <a:ext cx="17145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3525" y="5110162"/>
            <a:ext cx="142875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3525" y="6015037"/>
            <a:ext cx="152400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338137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The Recall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333500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END-TO-END TYPESCRIPT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897" y="132896"/>
            <a:ext cx="5761264" cy="65604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933575"/>
            <a:ext cx="55406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Inter SemiBold"/>
              </a:rPr>
              <a:t>Registry (Hono)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324100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Gateway, detector, recalls, contagion graph, paid hiring.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286125"/>
            <a:ext cx="55406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Inter SemiBold"/>
              </a:rPr>
              <a:t>Agents (5 × MIP-003)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676650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Research · Analysis · Trading · Decontam · Auditor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324350"/>
            <a:ext cx="55406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Inter SemiBold"/>
              </a:rPr>
              <a:t>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714875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3 Aiken Plutus V3 validators with 14 passing tests.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362575"/>
            <a:ext cx="55406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0B981"/>
                </a:solidFill>
                <a:latin typeface="Inter SemiBold"/>
              </a:rPr>
              <a:t>Budget: 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753100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Free tiers only. LLM failover. Strict zero-dollar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EF4444"/>
                </a:solidFill>
                <a:latin typeface="Inter"/>
              </a:rPr>
              <a:t>THE CENTERPIECE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990600"/>
            <a:ext cx="5540692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Live Demo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000250"/>
            <a:ext cx="527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>
                <a:solidFill>
                  <a:srgbClr val="0F172A"/>
                </a:solidFill>
                <a:latin typeface="Inter SemiBold"/>
              </a:rPr>
              <a:t>17 Beats.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552700"/>
            <a:ext cx="527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>
                <a:solidFill>
                  <a:srgbClr val="0F172A"/>
                </a:solidFill>
                <a:latin typeface="Inter SemiBold"/>
              </a:rPr>
              <a:t>~90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105150"/>
            <a:ext cx="527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>
                <a:solidFill>
                  <a:srgbClr val="0F172A"/>
                </a:solidFill>
                <a:latin typeface="Inter SemiBold"/>
              </a:rPr>
              <a:t>One Click.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41338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133850"/>
            <a:ext cx="5086350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Forged report injected.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444817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448175"/>
            <a:ext cx="5086350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Lie spreads → trader buys millions.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476250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762500"/>
            <a:ext cx="5086350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Recall issued → fleet quarantined.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507682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5076825"/>
            <a:ext cx="5086350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Gate rejects the spend.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53911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5391150"/>
            <a:ext cx="5086350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Paid cleanup purges the poison.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570547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5705475"/>
            <a:ext cx="5086350" cy="3143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Same lie returns reworded → Fleet is immune.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7400"/>
            <a:ext cx="5276850" cy="2905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57400"/>
            <a:ext cx="5276850" cy="2905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14550" y="5343525"/>
            <a:ext cx="79629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64748B"/>
                </a:solidFill>
                <a:latin typeface="Inter"/>
              </a:rPr>
              <a:t>* Real validators + script hashes. Gate evaluated in simulated mode; live tx submission =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2447925"/>
            <a:ext cx="4876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10B981"/>
                </a:solidFill>
                <a:latin typeface="Space Mono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781425"/>
            <a:ext cx="4876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Inter SemiBold"/>
              </a:rPr>
              <a:t>MIP-003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200525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Hired &amp; paid seamlessly via Masumi.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447925"/>
            <a:ext cx="4876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F59E0B"/>
                </a:solidFill>
                <a:latin typeface="Space Mono"/>
              </a:rP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781425"/>
            <a:ext cx="4876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Inter SemiBold"/>
              </a:rPr>
              <a:t>Automated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4200525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68 unit + 14 on-chain tests. Full e2e autopilot.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Built. Tested.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38350"/>
            <a:ext cx="5276850" cy="3724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38350"/>
            <a:ext cx="5276850" cy="3724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428875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Inter SemiBold"/>
              </a:rPr>
              <a:t>Immunisation &amp; Autopsy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895600"/>
            <a:ext cx="4495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4650" y="2428875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Inter SemiBold"/>
              </a:rPr>
              <a:t>Doubt Market &amp; Canaries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4650" y="2895600"/>
            <a:ext cx="4495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57300" y="3105150"/>
            <a:ext cx="42100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Antibodies: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Fingerprint numeric claims. Refuse the same lie on contact, even if heavily reworded.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4238625"/>
            <a:ext cx="42100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Epistemic Autopsy: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Replay decisions without the poison to measure the exact causal damage in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3105150"/>
            <a:ext cx="42100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Doubt Market: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Being early to spot a lie becomes a monetized position via Masumi.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4238625"/>
            <a:ext cx="42100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Sentinel Canaries: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Invisible watermarks catch data an agent ingested but never declared reading.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105150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4238625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3105150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238625"/>
            <a:ext cx="1238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EF4444"/>
                </a:solidFill>
                <a:latin typeface="Space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Beyond Recall (The Moat)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1885950"/>
            <a:ext cx="11029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Owning the edges makes the architecture credible.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3500" y="2486025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05000" y="2676525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Manifest honesty: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We make dishonesty detectable via canaries, not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3390900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05000" y="3581400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Unlearning scope: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Strictly scoped to RAG/memory stores where deletion is provable.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4295775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5000" y="4486275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Antibodies: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Currently fingerprint numerical claims, not semantic meaning (next step).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3500" y="5200650"/>
            <a:ext cx="952500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5000" y="5391150"/>
            <a:ext cx="87630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F172A"/>
                </a:solidFill>
                <a:latin typeface="Inter ExtraBold"/>
              </a:rPr>
              <a:t>Live tx submission: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Validators are tested, but live submission is the final roadmap step.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3500" y="3190875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4095750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33500" y="5000625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33500" y="5905500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2695575"/>
            <a:ext cx="2571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3600450"/>
            <a:ext cx="2000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505325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" y="5410200"/>
            <a:ext cx="285750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Honest Limitations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24362"/>
            <a:ext cx="2536775" cy="1181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576512"/>
            <a:ext cx="2536775" cy="118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424362"/>
            <a:ext cx="2536775" cy="1181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576512"/>
            <a:ext cx="2536775" cy="11811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4071937"/>
            <a:ext cx="110299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631" y="4624387"/>
            <a:ext cx="22435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Inter SemiBold"/>
              </a:rPr>
              <a:t>ZK Proofs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4948237"/>
            <a:ext cx="2136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Decontamination proof over same Merkle root (Midnight).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640" y="2776537"/>
            <a:ext cx="22435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Inter SemiBold"/>
              </a:rPr>
              <a:t>Live 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2058" y="3100387"/>
            <a:ext cx="2136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Live Preprod transaction submission end-to-end.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649" y="4624387"/>
            <a:ext cx="22435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Inter SemiBold"/>
              </a:rPr>
              <a:t>Semantic Immunity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067" y="4948237"/>
            <a:ext cx="2136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Embedding-based antibodies (meaning, not just numbers).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657" y="2776537"/>
            <a:ext cx="22435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Inter SemiBold"/>
              </a:rPr>
              <a:t>Slashing Game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4075" y="3100387"/>
            <a:ext cx="2136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Full automated dispute game for false recalls.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5112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66121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97129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28138" y="39766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Technical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25" y="4314825"/>
            <a:ext cx="5543550" cy="66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876425"/>
            <a:ext cx="11029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TEAM ADASTRA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276" y="2333625"/>
            <a:ext cx="11581447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0F172A"/>
                </a:solidFill>
                <a:latin typeface="Inter ExtraBold"/>
              </a:rPr>
              <a:t>ANTIDOTE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448050"/>
            <a:ext cx="11029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Antivirus protects computers. We protect what machines believe.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24</cp:revision>
  <dcterms:created xsi:type="dcterms:W3CDTF">2013-01-27T09:14:16Z</dcterms:created>
  <dcterms:modified xsi:type="dcterms:W3CDTF">2026-07-21T12:53:47Z</dcterms:modified>
  <cp:category/>
</cp:coreProperties>
</file>